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notesMasterIdLst>
    <p:notesMasterId r:id="rId16"/>
  </p:notesMasterIdLst>
  <p:handoutMasterIdLst>
    <p:handoutMasterId r:id="rId17"/>
  </p:handoutMasterIdLst>
  <p:sldIdLst>
    <p:sldId id="360" r:id="rId2"/>
    <p:sldId id="361" r:id="rId3"/>
    <p:sldId id="465" r:id="rId4"/>
    <p:sldId id="406" r:id="rId5"/>
    <p:sldId id="459" r:id="rId6"/>
    <p:sldId id="460" r:id="rId7"/>
    <p:sldId id="433" r:id="rId8"/>
    <p:sldId id="466" r:id="rId9"/>
    <p:sldId id="432" r:id="rId10"/>
    <p:sldId id="407" r:id="rId11"/>
    <p:sldId id="467" r:id="rId12"/>
    <p:sldId id="469" r:id="rId13"/>
    <p:sldId id="468" r:id="rId14"/>
    <p:sldId id="40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49A0C-D67E-4A41-957C-5ACC7F574CFF}" v="5" dt="2026-09-01T14:55:09.3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7"/>
    <p:restoredTop sz="94539"/>
  </p:normalViewPr>
  <p:slideViewPr>
    <p:cSldViewPr>
      <p:cViewPr varScale="1">
        <p:scale>
          <a:sx n="115" d="100"/>
          <a:sy n="115" d="100"/>
        </p:scale>
        <p:origin x="120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wnen, Paul M" userId="b1fad98d-9c85-4afc-93ea-92c67574f2bd" providerId="ADAL" clId="{93E90A3A-6919-51ED-AF75-49AD6452C2EB}"/>
    <pc:docChg chg="undo custSel modSld">
      <pc:chgData name="Downen, Paul M" userId="b1fad98d-9c85-4afc-93ea-92c67574f2bd" providerId="ADAL" clId="{93E90A3A-6919-51ED-AF75-49AD6452C2EB}" dt="2026-09-01T20:48:58.492" v="169" actId="20577"/>
      <pc:docMkLst>
        <pc:docMk/>
      </pc:docMkLst>
      <pc:sldChg chg="modSp mod">
        <pc:chgData name="Downen, Paul M" userId="b1fad98d-9c85-4afc-93ea-92c67574f2bd" providerId="ADAL" clId="{93E90A3A-6919-51ED-AF75-49AD6452C2EB}" dt="2026-09-01T20:48:58.492" v="169" actId="20577"/>
        <pc:sldMkLst>
          <pc:docMk/>
          <pc:sldMk cId="0" sldId="360"/>
        </pc:sldMkLst>
        <pc:spChg chg="mod">
          <ac:chgData name="Downen, Paul M" userId="b1fad98d-9c85-4afc-93ea-92c67574f2bd" providerId="ADAL" clId="{93E90A3A-6919-51ED-AF75-49AD6452C2EB}" dt="2026-09-01T20:48:58.492" v="169" actId="20577"/>
          <ac:spMkLst>
            <pc:docMk/>
            <pc:sldMk cId="0" sldId="360"/>
            <ac:spMk id="16386" creationId="{1E870296-0AC9-0347-993D-9CFB68B1E5D0}"/>
          </ac:spMkLst>
        </pc:spChg>
      </pc:sldChg>
      <pc:sldChg chg="modSp mod">
        <pc:chgData name="Downen, Paul M" userId="b1fad98d-9c85-4afc-93ea-92c67574f2bd" providerId="ADAL" clId="{93E90A3A-6919-51ED-AF75-49AD6452C2EB}" dt="2026-09-01T14:55:40.865" v="161" actId="20577"/>
        <pc:sldMkLst>
          <pc:docMk/>
          <pc:sldMk cId="1888264348" sldId="465"/>
        </pc:sldMkLst>
        <pc:graphicFrameChg chg="mod modGraphic">
          <ac:chgData name="Downen, Paul M" userId="b1fad98d-9c85-4afc-93ea-92c67574f2bd" providerId="ADAL" clId="{93E90A3A-6919-51ED-AF75-49AD6452C2EB}" dt="2026-09-01T14:55:40.865" v="161" actId="20577"/>
          <ac:graphicFrameMkLst>
            <pc:docMk/>
            <pc:sldMk cId="1888264348" sldId="465"/>
            <ac:graphicFrameMk id="2" creationId="{BBCB6CF8-1C48-EA41-A2A3-B49199870B74}"/>
          </ac:graphicFrameMkLst>
        </pc:graphicFrameChg>
      </pc:sldChg>
      <pc:sldChg chg="modSp mod">
        <pc:chgData name="Downen, Paul M" userId="b1fad98d-9c85-4afc-93ea-92c67574f2bd" providerId="ADAL" clId="{93E90A3A-6919-51ED-AF75-49AD6452C2EB}" dt="2026-09-01T14:59:50.211" v="163" actId="2711"/>
        <pc:sldMkLst>
          <pc:docMk/>
          <pc:sldMk cId="2884190424" sldId="467"/>
        </pc:sldMkLst>
        <pc:spChg chg="mod">
          <ac:chgData name="Downen, Paul M" userId="b1fad98d-9c85-4afc-93ea-92c67574f2bd" providerId="ADAL" clId="{93E90A3A-6919-51ED-AF75-49AD6452C2EB}" dt="2026-09-01T14:59:50.211" v="163" actId="2711"/>
          <ac:spMkLst>
            <pc:docMk/>
            <pc:sldMk cId="2884190424" sldId="467"/>
            <ac:spMk id="38914" creationId="{00DE95E0-179D-6540-B50D-26E71B5660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51C5FF-855F-784E-BA21-D639B9835F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9A570-9681-7D40-B172-8BDEB4864E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C74B58EA-1D5D-324F-8268-1812291BA6ED}" type="datetimeFigureOut">
              <a:rPr lang="en-US" altLang="en-US"/>
              <a:pPr>
                <a:defRPr/>
              </a:pPr>
              <a:t>9/1/26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89397-C357-D24A-B39C-40D5D9F590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2EB7B-56BE-0146-BF80-62A36FE8F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A78E9E26-4937-7C4B-9791-64B8B85B7D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7A6C070-EA0C-1443-8051-4C9BE30238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50D9CD2-76D8-0947-BBA2-011A020519C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EBA1634-0BC6-D348-A79A-6B3E3FDF19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4038E2A3-51F9-544E-BACD-B0AFC499AC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FD8919E7-228F-3844-A8CB-7BD925B7FB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69CE201C-E167-6C4A-9500-560BB1319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0A4C9C26-08CA-CB4F-A7A4-4148FEE19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7EDB34A-6092-2B4A-AA59-299FF8D8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BBADC65-7071-9B49-8FE9-AB81807D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E59B1FCA-2A4B-6741-9739-F805F38D7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326E95A-DE18-8149-80C4-61C5C988FC14}" type="slidenum">
              <a:rPr lang="en-US" altLang="en-US" sz="1200" b="0" smtClean="0">
                <a:latin typeface="Arial" panose="020B0604020202020204" pitchFamily="34" charset="0"/>
              </a:rPr>
              <a:pPr/>
              <a:t>10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630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7EDB34A-6092-2B4A-AA59-299FF8D8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BBADC65-7071-9B49-8FE9-AB81807D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E59B1FCA-2A4B-6741-9739-F805F38D7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326E95A-DE18-8149-80C4-61C5C988FC14}" type="slidenum">
              <a:rPr lang="en-US" altLang="en-US" sz="1200" b="0" smtClean="0">
                <a:latin typeface="Arial" panose="020B0604020202020204" pitchFamily="34" charset="0"/>
              </a:rPr>
              <a:pPr/>
              <a:t>11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338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7EDB34A-6092-2B4A-AA59-299FF8D8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BBADC65-7071-9B49-8FE9-AB81807D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E59B1FCA-2A4B-6741-9739-F805F38D7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326E95A-DE18-8149-80C4-61C5C988FC14}" type="slidenum">
              <a:rPr lang="en-US" altLang="en-US" sz="1200" b="0" smtClean="0">
                <a:latin typeface="Arial" panose="020B0604020202020204" pitchFamily="34" charset="0"/>
              </a:rPr>
              <a:pPr/>
              <a:t>12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042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7EDB34A-6092-2B4A-AA59-299FF8D87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BBADC65-7071-9B49-8FE9-AB81807D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E59B1FCA-2A4B-6741-9739-F805F38D7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6326E95A-DE18-8149-80C4-61C5C988FC14}" type="slidenum">
              <a:rPr lang="en-US" altLang="en-US" sz="1200" b="0" smtClean="0">
                <a:latin typeface="Arial" panose="020B0604020202020204" pitchFamily="34" charset="0"/>
              </a:rPr>
              <a:pPr/>
              <a:t>13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96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6B1328-5A5E-AD4A-B16A-59F5C1E0A740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71E550F-2F69-3844-A5C5-49CDF139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B4E5D6-6D28-894A-86A7-67894463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5483A1-23D6-C44C-B985-3B95C5B7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BFD1D-22E3-6640-B5D5-AEC0B5C968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33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A1C02-7106-2B4E-AD0D-A5192B7E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9B393-CF59-4C43-A6B3-4A638A6EE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601F-FCF1-D847-8E55-DEF2E7D1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5F462-1EEE-B14C-BEE2-70BD943E6E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95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53C97C8-75C4-1741-8FE6-62E785F9D5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929289-6F25-BD41-8AC8-55A71D703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9E7C74-1832-2B4A-BC38-E8B33499DD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39B2B-21CA-E745-9286-EF75D2BFEA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499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1E22-D532-A34B-B37E-ECE3464B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3808-15A4-784B-9445-9B347D0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7B08B-164D-6547-99E1-7B4D5FED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8366E-7558-294A-8A02-8B1618BB66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74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8FA4113-14D3-3949-9CB5-E7E7C6CE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580AA7-4DA2-B648-A64F-72E62737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C75406-6C09-C440-964F-28030586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BDDC8-FE5B-4E46-ABFB-B500EEFC95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07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9B6A390-B396-D34E-ADF2-0984F316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4B87998-0431-4947-991E-71BC55AB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4DB9B5-1D83-4D42-876D-ADEBDE22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F9116-00B3-9841-A940-F9BEFC0E2D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5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6A7059-20BA-0D4D-99AF-FE8E29B9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3B6780D-A68B-B24C-A247-5409C6A4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37507A-D991-DE4E-A74E-D56B7DB1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1960D-C159-5449-BB91-2C80D89741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02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2E87938-E73D-DF45-BDB1-D14F233A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440A76-81EA-1C4C-AC32-8D318E70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2F977F-83CC-124A-A73F-C4953B0A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9C2B8-0F48-D94A-A6C5-0B06D32BA0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33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3906EB-F6BC-564C-89AF-36FCA2F4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8F7DE3-A1B7-684A-B19C-1A1B10DCB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7D790D-B165-3647-AFD9-444067B5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240EC-4035-A24E-AF36-D50B8EE8E1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34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407552-2A10-C349-9477-20D2B1C2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B823408-179E-FF4F-A706-D163C0BE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09EC2F-7928-8D45-94D7-E900C492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47118-BCCC-254E-B4C6-0DBF56B7E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149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3111E-14DF-2B49-A2C1-C32E208E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21643-39FF-8344-9170-E0EBD742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5B69F-FE25-2246-8B78-CEB556F8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37001-F416-9341-A49F-3863D9567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15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1FF02-591F-7343-9805-22614A6D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EF32-956B-9746-8231-87D0F375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607A-90BE-E342-9CE1-1730D9AE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02ACD-330B-F241-B9F9-6835F4EE6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292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7C4B4C9-05CC-304A-85F6-39F66F7B44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7E9C214-2E44-E84D-AECA-879E490EDF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117E0-339F-DB40-B99C-6A15EC98F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4064-F38B-BA47-83F5-7441A8A8A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49E0-9DCB-F942-834C-7D6433F6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540153A8-6708-044E-B13A-035A992FCD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cho360.org/" TargetMode="External"/><Relationship Id="rId2" Type="http://schemas.openxmlformats.org/officeDocument/2006/relationships/hyperlink" Target="https://pauldownen.com/courses/26F/Assembly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public/students.html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en.wikipedia.org/wiki/Motherboard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therboard" TargetMode="External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820519-2E1F-5E4F-8EF8-AD74BFD7459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53340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COMP.2030 Assembly Language Prog.</a:t>
            </a:r>
          </a:p>
        </p:txBody>
      </p:sp>
      <p:sp>
        <p:nvSpPr>
          <p:cNvPr id="16386" name="Rectangle 5">
            <a:extLst>
              <a:ext uri="{FF2B5EF4-FFF2-40B4-BE49-F238E27FC236}">
                <a16:creationId xmlns:a16="http://schemas.microsoft.com/office/drawing/2014/main" id="{1E870296-0AC9-0347-993D-9CFB68B1E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 dirty="0">
                <a:latin typeface="Calibri" panose="020F0502020204030204" pitchFamily="34" charset="0"/>
              </a:rPr>
              <a:t>Website: </a:t>
            </a:r>
            <a:r>
              <a:rPr lang="en-US" altLang="en-US" sz="2800" b="0" dirty="0">
                <a:latin typeface="Calibri" panose="020F0502020204030204" pitchFamily="34" charset="0"/>
                <a:hlinkClick r:id="rId2"/>
              </a:rPr>
              <a:t>https://pauldownen.com/courses/26F/Assembly</a:t>
            </a:r>
            <a:endParaRPr lang="en-US" altLang="en-US" sz="2800" b="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>
                <a:latin typeface="Calibri" panose="020F0502020204030204" pitchFamily="34" charset="0"/>
              </a:rPr>
              <a:t>Canvas</a:t>
            </a:r>
            <a:endParaRPr lang="en-US" altLang="en-US" sz="2800" b="0" dirty="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 dirty="0">
                <a:latin typeface="Calibri" panose="020F0502020204030204" pitchFamily="34" charset="0"/>
              </a:rPr>
              <a:t>Homework/programming assignment submission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b="0" dirty="0">
                <a:latin typeface="Calibri" panose="020F0502020204030204" pitchFamily="34" charset="0"/>
              </a:rPr>
              <a:t>Lecture recordings: </a:t>
            </a:r>
            <a:r>
              <a:rPr lang="en-US" altLang="en-US" b="0" dirty="0">
                <a:latin typeface="Calibri" panose="020F0502020204030204" pitchFamily="34" charset="0"/>
                <a:hlinkClick r:id="rId3"/>
              </a:rPr>
              <a:t>https://echo360.org/</a:t>
            </a:r>
            <a:endParaRPr lang="en-US" altLang="en-US" b="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Instructor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Paul Downen &lt;</a:t>
            </a:r>
            <a:r>
              <a:rPr lang="en-US" b="0" dirty="0" err="1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paul@pauldownen.com</a:t>
            </a:r>
            <a:r>
              <a:rPr lang="en-US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&gt;</a:t>
            </a: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800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TAs: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200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Afia </a:t>
            </a:r>
            <a:r>
              <a:rPr lang="en-US" altLang="en-US" sz="2200" b="0" dirty="0" err="1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Sajeeda</a:t>
            </a:r>
            <a:r>
              <a:rPr lang="en-US" altLang="en-US" sz="2200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&lt;</a:t>
            </a:r>
            <a:r>
              <a:rPr lang="en-US" altLang="en-US" sz="2200" b="0" dirty="0" err="1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Afia_Sajeeda@uml.edu</a:t>
            </a:r>
            <a:r>
              <a:rPr lang="en-US" altLang="en-US" sz="2200" b="0" dirty="0"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FA1900F-72AE-5244-A96F-565B95E8BE5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Textbook and Outline</a:t>
            </a:r>
          </a:p>
        </p:txBody>
      </p:sp>
      <p:sp>
        <p:nvSpPr>
          <p:cNvPr id="17410" name="Rectangle 5">
            <a:extLst>
              <a:ext uri="{FF2B5EF4-FFF2-40B4-BE49-F238E27FC236}">
                <a16:creationId xmlns:a16="http://schemas.microsoft.com/office/drawing/2014/main" id="{D3E5DBFD-CB58-EA4F-ACAE-748A067AE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0"/>
            <a:ext cx="8229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8572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 dirty="0">
                <a:latin typeface="Calibri" panose="020F0502020204030204" pitchFamily="34" charset="0"/>
              </a:rPr>
              <a:t>Textbook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Randal Bryant and David O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 dirty="0" err="1">
                <a:latin typeface="Calibri" panose="020F0502020204030204" pitchFamily="34" charset="0"/>
              </a:rPr>
              <a:t>Hallaron</a:t>
            </a:r>
            <a:endParaRPr lang="en-US" altLang="ja-JP" b="0" dirty="0">
              <a:latin typeface="Calibri" panose="020F0502020204030204" pitchFamily="34" charset="0"/>
            </a:endParaRPr>
          </a:p>
          <a:p>
            <a:pPr lvl="2" eaLnBrk="1" hangingPunct="1">
              <a:spcBef>
                <a:spcPct val="20000"/>
              </a:spcBef>
            </a:pPr>
            <a:r>
              <a:rPr lang="ja-JP" altLang="en-US" b="0">
                <a:latin typeface="Calibri" panose="020F0502020204030204" pitchFamily="34" charset="0"/>
              </a:rPr>
              <a:t>“</a:t>
            </a:r>
            <a:r>
              <a:rPr lang="en-US" altLang="ja-JP" b="0" dirty="0">
                <a:latin typeface="Calibri" panose="020F0502020204030204" pitchFamily="34" charset="0"/>
              </a:rPr>
              <a:t>Computer System: A Programmer</a:t>
            </a:r>
            <a:r>
              <a:rPr lang="ja-JP" altLang="en-US" b="0">
                <a:latin typeface="Calibri" panose="020F0502020204030204" pitchFamily="34" charset="0"/>
              </a:rPr>
              <a:t>’</a:t>
            </a:r>
            <a:r>
              <a:rPr lang="en-US" altLang="ja-JP" b="0" dirty="0">
                <a:latin typeface="Calibri" panose="020F0502020204030204" pitchFamily="34" charset="0"/>
              </a:rPr>
              <a:t>s Perspective,</a:t>
            </a:r>
            <a:r>
              <a:rPr lang="ja-JP" altLang="en-US" b="0">
                <a:latin typeface="Calibri" panose="020F0502020204030204" pitchFamily="34" charset="0"/>
              </a:rPr>
              <a:t>”</a:t>
            </a:r>
            <a:r>
              <a:rPr lang="en-US" altLang="ja-JP" b="0" dirty="0">
                <a:latin typeface="Calibri" panose="020F0502020204030204" pitchFamily="34" charset="0"/>
              </a:rPr>
              <a:t> 3rd ed. Prentice-Hall 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ja-JP" b="0" dirty="0">
                <a:latin typeface="Calibri" panose="020F0502020204030204" pitchFamily="34" charset="0"/>
                <a:hlinkClick r:id="rId2"/>
              </a:rPr>
              <a:t>http://csapp.cs.cmu.edu/public/students.html</a:t>
            </a:r>
            <a:endParaRPr lang="en-US" altLang="ja-JP" b="0" dirty="0">
              <a:latin typeface="Calibri" panose="020F0502020204030204" pitchFamily="34" charset="0"/>
            </a:endParaRP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ja-JP" b="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3200" b="0" dirty="0">
                <a:latin typeface="Calibri" panose="020F0502020204030204" pitchFamily="34" charset="0"/>
              </a:rPr>
              <a:t>Outline in roughly four parts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 2 </a:t>
            </a:r>
            <a:r>
              <a:rPr lang="mr-IN" altLang="en-US" b="0" dirty="0">
                <a:latin typeface="Calibri" panose="020F0502020204030204" pitchFamily="34" charset="0"/>
              </a:rPr>
              <a:t>–</a:t>
            </a:r>
            <a:r>
              <a:rPr lang="en-US" altLang="en-US" b="0" dirty="0">
                <a:latin typeface="Calibri" panose="020F0502020204030204" pitchFamily="34" charset="0"/>
              </a:rPr>
              <a:t> Data Representation	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MIPS Assembly Language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 3 </a:t>
            </a:r>
            <a:r>
              <a:rPr lang="mr-IN" altLang="en-US" b="0" dirty="0">
                <a:latin typeface="Calibri" panose="020F0502020204030204" pitchFamily="34" charset="0"/>
              </a:rPr>
              <a:t>–</a:t>
            </a:r>
            <a:r>
              <a:rPr lang="en-US" altLang="en-US" b="0" dirty="0">
                <a:latin typeface="Calibri" panose="020F0502020204030204" pitchFamily="34" charset="0"/>
              </a:rPr>
              <a:t> Intel x86-64</a:t>
            </a:r>
          </a:p>
          <a:p>
            <a:pPr lvl="1" eaLnBrk="1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en-US" altLang="en-US" b="0" dirty="0">
                <a:latin typeface="Calibri" panose="020F0502020204030204" pitchFamily="34" charset="0"/>
              </a:rPr>
              <a:t>Chap 4 </a:t>
            </a:r>
            <a:r>
              <a:rPr lang="mr-IN" altLang="en-US" b="0" dirty="0">
                <a:latin typeface="Calibri" panose="020F0502020204030204" pitchFamily="34" charset="0"/>
              </a:rPr>
              <a:t>–</a:t>
            </a:r>
            <a:r>
              <a:rPr lang="en-US" altLang="en-US" b="0" dirty="0">
                <a:latin typeface="Calibri" panose="020F0502020204030204" pitchFamily="34" charset="0"/>
              </a:rPr>
              <a:t>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CB6CF8-1C48-EA41-A2A3-B49199870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36208"/>
              </p:ext>
            </p:extLst>
          </p:nvPr>
        </p:nvGraphicFramePr>
        <p:xfrm>
          <a:off x="1371600" y="1600200"/>
          <a:ext cx="5791200" cy="341567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060497">
                  <a:extLst>
                    <a:ext uri="{9D8B030D-6E8A-4147-A177-3AD203B41FA5}">
                      <a16:colId xmlns:a16="http://schemas.microsoft.com/office/drawing/2014/main" val="650753861"/>
                    </a:ext>
                  </a:extLst>
                </a:gridCol>
                <a:gridCol w="1730703">
                  <a:extLst>
                    <a:ext uri="{9D8B030D-6E8A-4147-A177-3AD203B41FA5}">
                      <a16:colId xmlns:a16="http://schemas.microsoft.com/office/drawing/2014/main" val="2136278022"/>
                    </a:ext>
                  </a:extLst>
                </a:gridCol>
              </a:tblGrid>
              <a:tr h="709358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24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Labs (2 absences are excused)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690" marR="0" algn="ctr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3349513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24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Homework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690" marR="0" algn="ctr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35327925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3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In-Class work (2 excused)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69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37447192"/>
                  </a:ext>
                </a:extLst>
              </a:tr>
              <a:tr h="543628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2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Midterm exam 1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15 %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11492546"/>
                  </a:ext>
                </a:extLst>
              </a:tr>
              <a:tr h="599372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2400" spc="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Midterm </a:t>
                      </a:r>
                      <a:r>
                        <a:rPr lang="en-US" sz="2400" spc="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 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15 %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76463985"/>
                  </a:ext>
                </a:extLst>
              </a:tr>
              <a:tr h="543628">
                <a:tc>
                  <a:txBody>
                    <a:bodyPr/>
                    <a:lstStyle/>
                    <a:p>
                      <a:pPr marL="64770" marR="0">
                        <a:lnSpc>
                          <a:spcPct val="115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Final Exam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6690" marR="0" algn="ctr">
                        <a:lnSpc>
                          <a:spcPct val="115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20 %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27720804"/>
                  </a:ext>
                </a:extLst>
              </a:tr>
            </a:tbl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023507DE-E272-BC45-9FBE-5AA9FB3EFE8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sz="440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Evaluation</a:t>
            </a:r>
            <a:endParaRPr lang="en-US" sz="44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26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3FE84A-3DF0-A34D-9216-CC674A6F6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Arial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ko-KR" sz="3600" dirty="0">
                <a:latin typeface="+mj-lt"/>
                <a:ea typeface="굴림" charset="0"/>
                <a:cs typeface="굴림" charset="0"/>
              </a:rPr>
              <a:t>How does a program execute?</a:t>
            </a:r>
            <a:endParaRPr lang="en-US" sz="3600" dirty="0">
              <a:latin typeface="+mj-lt"/>
            </a:endParaRP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9C4A98C2-A71E-1646-9A9C-721591A38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95400"/>
            <a:ext cx="7391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b="0">
                <a:latin typeface="Helvetica" pitchFamily="2" charset="0"/>
              </a:rPr>
              <a:t>Compute the class average</a:t>
            </a:r>
          </a:p>
        </p:txBody>
      </p:sp>
      <p:sp>
        <p:nvSpPr>
          <p:cNvPr id="37891" name="TextBox 1">
            <a:extLst>
              <a:ext uri="{FF2B5EF4-FFF2-40B4-BE49-F238E27FC236}">
                <a16:creationId xmlns:a16="http://schemas.microsoft.com/office/drawing/2014/main" id="{053C62AA-D3A0-E946-93E8-0F48926D5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63738"/>
            <a:ext cx="58674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total = total + grades[counter];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counter = counter + 1;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average = total / counter;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print(average);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	print('no grades entered’);</a:t>
            </a:r>
          </a:p>
          <a:p>
            <a:r>
              <a:rPr lang="en-US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655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304E8FE3-2C12-814F-AF18-8364E3985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86475"/>
            <a:ext cx="9296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from </a:t>
            </a:r>
            <a:r>
              <a:rPr lang="en-US" altLang="en-US" sz="1800" b="0">
                <a:hlinkClick r:id="rId2"/>
              </a:rPr>
              <a:t>https://en.wikipedia.org/wiki/Motherboard</a:t>
            </a:r>
            <a:endParaRPr lang="en-US" altLang="en-US" sz="1800" b="0"/>
          </a:p>
          <a:p>
            <a:r>
              <a:rPr lang="en-US" altLang="en-US" sz="1800" b="0"/>
              <a:t>by JulianVilla26 - </a:t>
            </a:r>
            <a:r>
              <a:rPr lang="en-US" altLang="en-US" sz="1600" b="0"/>
              <a:t>Own work, CC BY-SA 4.0, https://commons.wikimedia.org/w/index.php?curid=84225711</a:t>
            </a:r>
          </a:p>
        </p:txBody>
      </p:sp>
      <p:pic>
        <p:nvPicPr>
          <p:cNvPr id="16386" name="Picture 3">
            <a:extLst>
              <a:ext uri="{FF2B5EF4-FFF2-40B4-BE49-F238E27FC236}">
                <a16:creationId xmlns:a16="http://schemas.microsoft.com/office/drawing/2014/main" id="{CD2796B5-FE57-E24E-8CFA-B932EF5AD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9600"/>
            <a:ext cx="6934200" cy="519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>
            <a:extLst>
              <a:ext uri="{FF2B5EF4-FFF2-40B4-BE49-F238E27FC236}">
                <a16:creationId xmlns:a16="http://schemas.microsoft.com/office/drawing/2014/main" id="{444F5EC1-7581-0D44-96F5-B29442AD1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66675"/>
            <a:ext cx="289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solidFill>
                  <a:schemeClr val="accent1"/>
                </a:solidFill>
                <a:latin typeface="Calibri" panose="020F0502020204030204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68387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>
            <a:extLst>
              <a:ext uri="{FF2B5EF4-FFF2-40B4-BE49-F238E27FC236}">
                <a16:creationId xmlns:a16="http://schemas.microsoft.com/office/drawing/2014/main" id="{7E3FBA41-6291-E847-8FFB-28CF01FAB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04800"/>
            <a:ext cx="4216400" cy="59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>
            <a:extLst>
              <a:ext uri="{FF2B5EF4-FFF2-40B4-BE49-F238E27FC236}">
                <a16:creationId xmlns:a16="http://schemas.microsoft.com/office/drawing/2014/main" id="{7D5EC371-2505-D843-AD2D-FBDB2FC80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6450013"/>
            <a:ext cx="487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from </a:t>
            </a:r>
            <a:r>
              <a:rPr lang="en-US" altLang="en-US" sz="1800" b="0">
                <a:hlinkClick r:id="rId3"/>
              </a:rPr>
              <a:t>https://en.wikipedia.org/wiki/Motherboard</a:t>
            </a:r>
            <a:endParaRPr lang="en-US" altLang="en-US" sz="1800" b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FB94404-B8EF-6249-8C19-A2C0376FC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66675"/>
            <a:ext cx="289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600">
                <a:solidFill>
                  <a:schemeClr val="accent1"/>
                </a:solidFill>
                <a:latin typeface="Calibri" panose="020F0502020204030204" pitchFamily="34" charset="0"/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71144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6" descr="mips">
            <a:extLst>
              <a:ext uri="{FF2B5EF4-FFF2-40B4-BE49-F238E27FC236}">
                <a16:creationId xmlns:a16="http://schemas.microsoft.com/office/drawing/2014/main" id="{22BEBF14-C824-2046-A379-AEEBDF066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49375"/>
            <a:ext cx="6403975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ounded Rectangle 3">
            <a:extLst>
              <a:ext uri="{FF2B5EF4-FFF2-40B4-BE49-F238E27FC236}">
                <a16:creationId xmlns:a16="http://schemas.microsoft.com/office/drawing/2014/main" id="{69006945-0570-C14C-9B13-6CF4F5E03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1504950"/>
            <a:ext cx="4419600" cy="41910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287A9E"/>
            </a:solidFill>
            <a:round/>
            <a:headEnd/>
            <a:tailEnd/>
          </a:ln>
          <a:effectLst>
            <a:outerShdw blurRad="63500" dist="26940" dir="5400000" sx="100999" sy="100999" rotWithShape="0">
              <a:srgbClr val="000000">
                <a:alpha val="39998"/>
              </a:srgbClr>
            </a:outerShdw>
          </a:effec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MS PGothic" charset="-128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News Gothic MT" charset="0"/>
            </a:endParaRPr>
          </a:p>
        </p:txBody>
      </p:sp>
      <p:sp>
        <p:nvSpPr>
          <p:cNvPr id="18435" name="TextBox 4">
            <a:extLst>
              <a:ext uri="{FF2B5EF4-FFF2-40B4-BE49-F238E27FC236}">
                <a16:creationId xmlns:a16="http://schemas.microsoft.com/office/drawing/2014/main" id="{D3E3A3EF-F313-C74F-AE06-9E71A34BD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867400"/>
            <a:ext cx="679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i="1">
                <a:latin typeface="Franklin Gothic Book" panose="020B0503020102020204" pitchFamily="34" charset="0"/>
              </a:rPr>
              <a:t>CPU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843A9997-EB3C-7741-AC8C-8CF39D3E7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423863"/>
            <a:ext cx="5791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solidFill>
                  <a:schemeClr val="accent1"/>
                </a:solidFill>
                <a:latin typeface="Calibri" panose="020F0502020204030204" pitchFamily="34" charset="0"/>
              </a:rPr>
              <a:t>Hardware Schematics</a:t>
            </a:r>
          </a:p>
        </p:txBody>
      </p:sp>
    </p:spTree>
    <p:extLst>
      <p:ext uri="{BB962C8B-B14F-4D97-AF65-F5344CB8AC3E}">
        <p14:creationId xmlns:p14="http://schemas.microsoft.com/office/powerpoint/2010/main" val="9058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6" descr="mips">
            <a:extLst>
              <a:ext uri="{FF2B5EF4-FFF2-40B4-BE49-F238E27FC236}">
                <a16:creationId xmlns:a16="http://schemas.microsoft.com/office/drawing/2014/main" id="{22BEBF14-C824-2046-A379-AEEBDF066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828800"/>
            <a:ext cx="5309358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2">
            <a:extLst>
              <a:ext uri="{FF2B5EF4-FFF2-40B4-BE49-F238E27FC236}">
                <a16:creationId xmlns:a16="http://schemas.microsoft.com/office/drawing/2014/main" id="{843A9997-EB3C-7741-AC8C-8CF39D3E7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38559"/>
            <a:ext cx="8477250" cy="75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solidFill>
                  <a:schemeClr val="accent1"/>
                </a:solidFill>
                <a:latin typeface="Calibri" panose="020F0502020204030204" pitchFamily="34" charset="0"/>
              </a:rPr>
              <a:t>Program execution in hardware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54202-4D91-3D62-8B19-B6141B7C3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212" y="1600200"/>
            <a:ext cx="41910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total=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total+grades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[counter];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counter = counter + 1;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average = total / counter;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print(average);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print('no grades entered’);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880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3831A0A-D4FF-2C43-9C54-F323A3C1E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5867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600" dirty="0">
                <a:solidFill>
                  <a:schemeClr val="accent1"/>
                </a:solidFill>
                <a:latin typeface="Calibri" panose="020F0502020204030204" pitchFamily="34" charset="0"/>
              </a:rPr>
              <a:t>Hardware Organization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1C1DC95-98D4-A644-9807-510AB7DE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47800"/>
            <a:ext cx="6096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b="0">
                <a:latin typeface="+mn-lt"/>
                <a:ea typeface="+mn-ea"/>
              </a:rPr>
              <a:t>Fixed Resources:</a:t>
            </a:r>
            <a:endParaRPr lang="en-US" b="0" dirty="0">
              <a:latin typeface="+mn-lt"/>
              <a:ea typeface="+mn-ea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b="0" dirty="0">
              <a:latin typeface="+mn-lt"/>
              <a:ea typeface="+mn-ea"/>
            </a:endParaRP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+mn-lt"/>
                <a:ea typeface="+mn-ea"/>
              </a:rPr>
              <a:t>CPU</a:t>
            </a:r>
            <a:r>
              <a:rPr lang="en-US" sz="2000" b="0" dirty="0">
                <a:latin typeface="+mn-lt"/>
                <a:ea typeface="+mn-ea"/>
              </a:rPr>
              <a:t> (Central Processing Unit)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ea typeface="+mn-ea"/>
              </a:rPr>
              <a:t>ALU</a:t>
            </a:r>
            <a:r>
              <a:rPr lang="en-US" sz="2000" b="0" dirty="0">
                <a:latin typeface="+mn-lt"/>
                <a:ea typeface="+mn-ea"/>
              </a:rPr>
              <a:t> (Arithmetic &amp; Logical Unit)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ea typeface="+mn-ea"/>
              </a:rPr>
              <a:t>Register File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ea typeface="+mn-ea"/>
              </a:rPr>
              <a:t>Program Counter (PC)</a:t>
            </a:r>
          </a:p>
          <a:p>
            <a:pPr marL="1657350" lvl="3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ea typeface="+mn-ea"/>
              </a:rPr>
              <a:t>Instruction Register (IR)</a:t>
            </a:r>
          </a:p>
          <a:p>
            <a:pPr lvl="3">
              <a:spcBef>
                <a:spcPct val="20000"/>
              </a:spcBef>
              <a:defRPr/>
            </a:pPr>
            <a:endParaRPr lang="en-US" sz="2000" dirty="0">
              <a:latin typeface="+mn-lt"/>
              <a:ea typeface="+mn-ea"/>
            </a:endParaRP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Memory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defRPr/>
            </a:pPr>
            <a:endParaRPr lang="en-US" sz="2000" dirty="0">
              <a:latin typeface="+mj-lt"/>
            </a:endParaRP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</a:rPr>
              <a:t>I/O</a:t>
            </a:r>
          </a:p>
          <a:p>
            <a:pPr lvl="2">
              <a:spcBef>
                <a:spcPct val="20000"/>
              </a:spcBef>
              <a:defRPr/>
            </a:pPr>
            <a:endParaRPr lang="en-US" sz="20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909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">
            <a:extLst>
              <a:ext uri="{FF2B5EF4-FFF2-40B4-BE49-F238E27FC236}">
                <a16:creationId xmlns:a16="http://schemas.microsoft.com/office/drawing/2014/main" id="{3F0CCC70-1797-2145-BF8B-F31CDEC8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990600"/>
            <a:ext cx="4800600" cy="42473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	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total = total + grades[counter];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counter = counter + 1;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average = total / counter;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print(average);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print('no grades entered’);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8914" name="TextBox 2">
            <a:extLst>
              <a:ext uri="{FF2B5EF4-FFF2-40B4-BE49-F238E27FC236}">
                <a16:creationId xmlns:a16="http://schemas.microsoft.com/office/drawing/2014/main" id="{00DE95E0-179D-6540-B50D-26E71B56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11836"/>
            <a:ext cx="4267200" cy="397031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Helvetica" pitchFamily="2" charset="0"/>
              </a:rPr>
              <a:t>	Variables</a:t>
            </a: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r>
              <a:rPr lang="en-US" altLang="en-US" sz="1800" b="0" dirty="0">
                <a:latin typeface="Helvetica" pitchFamily="2" charset="0"/>
              </a:rPr>
              <a:t>	Loop</a:t>
            </a: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r>
              <a:rPr lang="en-US" altLang="en-US" sz="1800" b="0" dirty="0">
                <a:latin typeface="Helvetica" pitchFamily="2" charset="0"/>
              </a:rPr>
              <a:t>	Conditional</a:t>
            </a: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29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">
            <a:extLst>
              <a:ext uri="{FF2B5EF4-FFF2-40B4-BE49-F238E27FC236}">
                <a16:creationId xmlns:a16="http://schemas.microsoft.com/office/drawing/2014/main" id="{3F0CCC70-1797-2145-BF8B-F31CDEC8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990600"/>
            <a:ext cx="4648200" cy="42473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total = total + grades[counter];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counter = counter + 1;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average = total / counter;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print(average);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print('no grades entered’);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8914" name="TextBox 2">
            <a:extLst>
              <a:ext uri="{FF2B5EF4-FFF2-40B4-BE49-F238E27FC236}">
                <a16:creationId xmlns:a16="http://schemas.microsoft.com/office/drawing/2014/main" id="{00DE95E0-179D-6540-B50D-26E71B56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990600"/>
            <a:ext cx="4191000" cy="42473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Helvetica" pitchFamily="2" charset="0"/>
              </a:rPr>
              <a:t>	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reg1 = 0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reg2 = 0</a:t>
            </a: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r>
              <a:rPr lang="en-US" altLang="en-US" sz="1800" b="0" dirty="0">
                <a:latin typeface="Helvetica" pitchFamily="2" charset="0"/>
              </a:rPr>
              <a:t>	</a:t>
            </a: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  <a:p>
            <a:endParaRPr lang="en-US" altLang="en-US" sz="1800" b="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19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">
            <a:extLst>
              <a:ext uri="{FF2B5EF4-FFF2-40B4-BE49-F238E27FC236}">
                <a16:creationId xmlns:a16="http://schemas.microsoft.com/office/drawing/2014/main" id="{3F0CCC70-1797-2145-BF8B-F31CDEC8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990600"/>
            <a:ext cx="4495800" cy="42473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total = total + grades[counter];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counter = counter + 1;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average = total / counter;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print(average);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print('no grades entered’);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8914" name="TextBox 2">
            <a:extLst>
              <a:ext uri="{FF2B5EF4-FFF2-40B4-BE49-F238E27FC236}">
                <a16:creationId xmlns:a16="http://schemas.microsoft.com/office/drawing/2014/main" id="{00DE95E0-179D-6540-B50D-26E71B56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990600"/>
            <a:ext cx="4495800" cy="452431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reg1 = 0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reg2 = 0</a:t>
            </a: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comp(grades[reg2], 0)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if (LT)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comp(reg2, 0)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if (LE)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else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     reg4 = reg1/reg2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     print(reg4)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    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exit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	     print(“…”)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exit:</a:t>
            </a:r>
          </a:p>
        </p:txBody>
      </p:sp>
    </p:spTree>
    <p:extLst>
      <p:ext uri="{BB962C8B-B14F-4D97-AF65-F5344CB8AC3E}">
        <p14:creationId xmlns:p14="http://schemas.microsoft.com/office/powerpoint/2010/main" val="243768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">
            <a:extLst>
              <a:ext uri="{FF2B5EF4-FFF2-40B4-BE49-F238E27FC236}">
                <a16:creationId xmlns:a16="http://schemas.microsoft.com/office/drawing/2014/main" id="{3F0CCC70-1797-2145-BF8B-F31CDEC8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852100"/>
            <a:ext cx="4495800" cy="5078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total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counter = 0;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average;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 (grades[counter] &gt;=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total = total + grades[counter];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counter = counter + 1;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(counter &gt; 0)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average = total / counter;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print(average);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print('no grades entered’);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8914" name="TextBox 2">
            <a:extLst>
              <a:ext uri="{FF2B5EF4-FFF2-40B4-BE49-F238E27FC236}">
                <a16:creationId xmlns:a16="http://schemas.microsoft.com/office/drawing/2014/main" id="{00DE95E0-179D-6540-B50D-26E71B56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852100"/>
            <a:ext cx="4495800" cy="5355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reg1 = 0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reg2 = 0</a:t>
            </a: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comp(grades[reg2], 0)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if (LT) </a:t>
            </a:r>
            <a:r>
              <a:rPr lang="en-US" altLang="en-US" sz="1800" b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done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Add reg1, reg1, grades[reg2]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Add reg2, 1, reg2</a:t>
            </a:r>
          </a:p>
          <a:p>
            <a:r>
              <a:rPr lang="en-US" alt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done: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if (reg2 &lt;= 0) </a:t>
            </a:r>
            <a:r>
              <a:rPr lang="en-US" altLang="en-US" sz="1800" b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else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reg4 = reg1/reg2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 reg4</a:t>
            </a:r>
          </a:p>
          <a:p>
            <a:r>
              <a:rPr lang="en-US" altLang="en-US" sz="1800" b="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exit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 'no grades were entered’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exit:</a:t>
            </a:r>
          </a:p>
        </p:txBody>
      </p:sp>
    </p:spTree>
    <p:extLst>
      <p:ext uri="{BB962C8B-B14F-4D97-AF65-F5344CB8AC3E}">
        <p14:creationId xmlns:p14="http://schemas.microsoft.com/office/powerpoint/2010/main" val="415190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Box 2">
            <a:extLst>
              <a:ext uri="{FF2B5EF4-FFF2-40B4-BE49-F238E27FC236}">
                <a16:creationId xmlns:a16="http://schemas.microsoft.com/office/drawing/2014/main" id="{914B3029-24F6-4245-8470-4C4D1BB3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80" y="309007"/>
            <a:ext cx="4247920" cy="56323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reg1 = 0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reg2 = 0</a:t>
            </a: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reg3 = MEM[grades+reg2]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compare(reg3, 0)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branch(LT) to done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add reg1, reg1, reg3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add reg2, 1, reg2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done: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compare(reg2,0)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branch(</a:t>
            </a:r>
            <a:r>
              <a:rPr lang="en-US" altLang="en-US" sz="1800" b="0">
                <a:latin typeface="Consolas" panose="020B0609020204030204" pitchFamily="49" charset="0"/>
                <a:cs typeface="Consolas" panose="020B0609020204030204" pitchFamily="49" charset="0"/>
              </a:rPr>
              <a:t>LE) to 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reg4 = reg1/reg2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 reg4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exit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 print 'no grades entered’</a:t>
            </a:r>
          </a:p>
          <a:p>
            <a:r>
              <a:rPr lang="en-US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exit:</a:t>
            </a:r>
          </a:p>
        </p:txBody>
      </p:sp>
      <p:sp>
        <p:nvSpPr>
          <p:cNvPr id="37890" name="TextBox 3">
            <a:extLst>
              <a:ext uri="{FF2B5EF4-FFF2-40B4-BE49-F238E27FC236}">
                <a16:creationId xmlns:a16="http://schemas.microsoft.com/office/drawing/2014/main" id="{0512E3EC-85A0-3341-9386-C9E9B0105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97723"/>
            <a:ext cx="4592392" cy="59093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/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reg1 = 0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reg2 = 0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(grades[reg2]&lt;0)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done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add reg1, reg1, grades[reg2]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add reg2, 1, reg2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rept</a:t>
            </a:r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done: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 (counter &lt;= 0)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else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reg4 = reg1/reg2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 average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en-US" sz="1800" b="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goto</a:t>
            </a:r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exit</a:t>
            </a:r>
          </a:p>
          <a:p>
            <a:endParaRPr lang="en-US" altLang="en-US" sz="1800" b="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else: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print 'no grades were entered’</a:t>
            </a:r>
          </a:p>
          <a:p>
            <a:r>
              <a:rPr lang="en-US" altLang="en-US" sz="1800" b="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exit:</a:t>
            </a:r>
          </a:p>
        </p:txBody>
      </p:sp>
    </p:spTree>
    <p:extLst>
      <p:ext uri="{BB962C8B-B14F-4D97-AF65-F5344CB8AC3E}">
        <p14:creationId xmlns:p14="http://schemas.microsoft.com/office/powerpoint/2010/main" val="1688272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1407</TotalTime>
  <Words>1014</Words>
  <Application>Microsoft Macintosh PowerPoint</Application>
  <PresentationFormat>On-screen Show (4:3)</PresentationFormat>
  <Paragraphs>253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ＭＳ Ｐゴシック</vt:lpstr>
      <vt:lpstr>Arial</vt:lpstr>
      <vt:lpstr>Calibri</vt:lpstr>
      <vt:lpstr>Consolas</vt:lpstr>
      <vt:lpstr>Franklin Gothic Book</vt:lpstr>
      <vt:lpstr>Helvetica</vt:lpstr>
      <vt:lpstr>News Gothic MT</vt:lpstr>
      <vt:lpstr>Times</vt:lpstr>
      <vt:lpstr>Times New Roman</vt:lpstr>
      <vt:lpstr>Wingdings</vt:lpstr>
      <vt:lpstr>Wingdings 2</vt:lpstr>
      <vt:lpstr>Breeze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Downen, Paul M</cp:lastModifiedBy>
  <cp:revision>139</cp:revision>
  <dcterms:created xsi:type="dcterms:W3CDTF">2004-01-20T22:43:44Z</dcterms:created>
  <dcterms:modified xsi:type="dcterms:W3CDTF">2026-09-01T20:48:59Z</dcterms:modified>
</cp:coreProperties>
</file>